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12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9388475" cy="710247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B479978-54F4-4157-BAA4-3D54AF53768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2328840" y="533520"/>
            <a:ext cx="4729320" cy="266076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938520" y="3372120"/>
            <a:ext cx="7510320" cy="3195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6480" rIns="96480" tIns="48240" bIns="4824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4067280" cy="353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6480" rIns="96480" tIns="48240" bIns="48240" anchor="t">
            <a:noAutofit/>
          </a:bodyPr>
          <a:p>
            <a:pPr indent="0" defTabSz="966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111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2328840" y="533520"/>
            <a:ext cx="4729320" cy="266076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938520" y="3372120"/>
            <a:ext cx="7510320" cy="3195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6480" rIns="96480" tIns="48240" bIns="4824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4067280" cy="353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6480" rIns="96480" tIns="48240" bIns="48240" anchor="t">
            <a:noAutofit/>
          </a:bodyPr>
          <a:p>
            <a:pPr indent="0" defTabSz="966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111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2328840" y="533520"/>
            <a:ext cx="4729320" cy="266076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938520" y="3372120"/>
            <a:ext cx="7510320" cy="3195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6480" rIns="96480" tIns="48240" bIns="4824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4067280" cy="353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6480" rIns="96480" tIns="48240" bIns="48240" anchor="t">
            <a:noAutofit/>
          </a:bodyPr>
          <a:p>
            <a:pPr indent="0" defTabSz="966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111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uot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8"/>
          <p:cNvSpPr/>
          <p:nvPr/>
        </p:nvSpPr>
        <p:spPr>
          <a:xfrm>
            <a:off x="552600" y="907920"/>
            <a:ext cx="11087640" cy="34920"/>
          </a:xfrm>
          <a:prstGeom prst="rect">
            <a:avLst/>
          </a:prstGeom>
          <a:solidFill>
            <a:schemeClr val="accent2"/>
          </a:solidFill>
          <a:ln w="4445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8640" bIns="-8640" anchor="ctr">
            <a:noAutofit/>
          </a:bodyPr>
          <a:p>
            <a:pPr>
              <a:lnSpc>
                <a:spcPct val="100000"/>
              </a:lnSpc>
            </a:pPr>
            <a:endParaRPr b="0" lang="it-IT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uto con didascali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angle 8"/>
          <p:cNvSpPr/>
          <p:nvPr/>
        </p:nvSpPr>
        <p:spPr>
          <a:xfrm>
            <a:off x="552600" y="907920"/>
            <a:ext cx="11087640" cy="34920"/>
          </a:xfrm>
          <a:prstGeom prst="rect">
            <a:avLst/>
          </a:prstGeom>
          <a:solidFill>
            <a:schemeClr val="accent2"/>
          </a:solidFill>
          <a:ln w="4445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8640" bIns="-8640" anchor="ctr">
            <a:noAutofit/>
          </a:bodyPr>
          <a:p>
            <a:pPr>
              <a:lnSpc>
                <a:spcPct val="100000"/>
              </a:lnSpc>
            </a:pPr>
            <a:endParaRPr b="0" lang="it-IT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09680" cy="1160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4080" cy="2282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09680" cy="306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 hidden="1"/>
          <p:cNvSpPr/>
          <p:nvPr/>
        </p:nvSpPr>
        <p:spPr>
          <a:xfrm>
            <a:off x="552600" y="907920"/>
            <a:ext cx="11087640" cy="34920"/>
          </a:xfrm>
          <a:prstGeom prst="rect">
            <a:avLst/>
          </a:prstGeom>
          <a:solidFill>
            <a:schemeClr val="accent2"/>
          </a:solidFill>
          <a:ln w="4445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8640" bIns="-8640" anchor="ctr">
            <a:noAutofit/>
          </a:bodyPr>
          <a:p>
            <a:pPr>
              <a:lnSpc>
                <a:spcPct val="100000"/>
              </a:lnSpc>
            </a:pPr>
            <a:endParaRPr b="0" lang="it-IT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83040" y="907920"/>
            <a:ext cx="11424240" cy="1468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Cli</a:t>
            </a:r>
            <a:r>
              <a:rPr b="0" lang="en-US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ck </a:t>
            </a:r>
            <a:r>
              <a:rPr b="0" lang="en-US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to </a:t>
            </a:r>
            <a:r>
              <a:rPr b="0" lang="en-US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ed</a:t>
            </a:r>
            <a:r>
              <a:rPr b="0" lang="en-US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it </a:t>
            </a:r>
            <a:r>
              <a:rPr b="0" lang="en-US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M</a:t>
            </a:r>
            <a:r>
              <a:rPr b="0" lang="en-US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as</a:t>
            </a:r>
            <a:r>
              <a:rPr b="0" lang="en-US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ter </a:t>
            </a:r>
            <a:r>
              <a:rPr b="0" lang="en-US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titl</a:t>
            </a:r>
            <a:r>
              <a:rPr b="0" lang="en-US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e </a:t>
            </a:r>
            <a:r>
              <a:rPr b="0" lang="en-US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st</a:t>
            </a:r>
            <a:r>
              <a:rPr b="0" lang="en-US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yl</a:t>
            </a:r>
            <a:r>
              <a:rPr b="0" lang="en-US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magine con didascali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8"/>
          <p:cNvSpPr/>
          <p:nvPr/>
        </p:nvSpPr>
        <p:spPr>
          <a:xfrm>
            <a:off x="552600" y="907920"/>
            <a:ext cx="11087640" cy="34920"/>
          </a:xfrm>
          <a:prstGeom prst="rect">
            <a:avLst/>
          </a:prstGeom>
          <a:solidFill>
            <a:schemeClr val="accent2"/>
          </a:solidFill>
          <a:ln w="4445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8640" bIns="-8640" anchor="ctr">
            <a:noAutofit/>
          </a:bodyPr>
          <a:p>
            <a:pPr>
              <a:lnSpc>
                <a:spcPct val="100000"/>
              </a:lnSpc>
            </a:pPr>
            <a:endParaRPr b="0" lang="it-IT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3760" cy="56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Click to edit Master title </a:t>
            </a:r>
            <a:r>
              <a:rPr b="1" lang="en-US" sz="20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4533840" cy="58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icon to add picture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3760" cy="306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olo e testo vertica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8"/>
          <p:cNvSpPr/>
          <p:nvPr/>
        </p:nvSpPr>
        <p:spPr>
          <a:xfrm>
            <a:off x="552600" y="907920"/>
            <a:ext cx="11087640" cy="34920"/>
          </a:xfrm>
          <a:prstGeom prst="rect">
            <a:avLst/>
          </a:prstGeom>
          <a:solidFill>
            <a:schemeClr val="accent2"/>
          </a:solidFill>
          <a:ln w="4445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8640" bIns="-8640" anchor="ctr">
            <a:noAutofit/>
          </a:bodyPr>
          <a:p>
            <a:pPr>
              <a:lnSpc>
                <a:spcPct val="100000"/>
              </a:lnSpc>
            </a:pPr>
            <a:endParaRPr b="0" lang="it-IT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-1764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2755440" y="1268280"/>
            <a:ext cx="8825760" cy="1700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OpenSymbol"/>
              <a:buChar char="»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1_Titolo e testo vertica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/>
          <p:cNvSpPr/>
          <p:nvPr/>
        </p:nvSpPr>
        <p:spPr>
          <a:xfrm>
            <a:off x="552600" y="907920"/>
            <a:ext cx="11087640" cy="34920"/>
          </a:xfrm>
          <a:prstGeom prst="rect">
            <a:avLst/>
          </a:prstGeom>
          <a:solidFill>
            <a:schemeClr val="accent2"/>
          </a:solidFill>
          <a:ln w="4445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8640" bIns="-8640" anchor="ctr">
            <a:noAutofit/>
          </a:bodyPr>
          <a:p>
            <a:pPr>
              <a:lnSpc>
                <a:spcPct val="100000"/>
              </a:lnSpc>
            </a:pPr>
            <a:endParaRPr b="0" lang="it-IT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839080" y="-17640"/>
            <a:ext cx="2741760" cy="6070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 vert="eaVer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826320" y="-17640"/>
            <a:ext cx="1808280" cy="6070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OpenSymbol"/>
              <a:buChar char="»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Obj" preserve="1">
  <p:cSld name="Titolo, testo e contenut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8"/>
          <p:cNvSpPr/>
          <p:nvPr/>
        </p:nvSpPr>
        <p:spPr>
          <a:xfrm>
            <a:off x="552600" y="907920"/>
            <a:ext cx="11087640" cy="34920"/>
          </a:xfrm>
          <a:prstGeom prst="rect">
            <a:avLst/>
          </a:prstGeom>
          <a:solidFill>
            <a:schemeClr val="accent2"/>
          </a:solidFill>
          <a:ln w="4445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8640" bIns="-8640" anchor="ctr">
            <a:noAutofit/>
          </a:bodyPr>
          <a:p>
            <a:pPr>
              <a:lnSpc>
                <a:spcPct val="100000"/>
              </a:lnSpc>
            </a:pPr>
            <a:endParaRPr b="0" lang="it-IT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-1764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268280"/>
            <a:ext cx="5383440" cy="1716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OpenSymbol"/>
              <a:buChar char="»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197760" y="1268280"/>
            <a:ext cx="5383440" cy="1716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OpenSymbol"/>
              <a:buChar char="»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titol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8"/>
          <p:cNvSpPr/>
          <p:nvPr/>
        </p:nvSpPr>
        <p:spPr>
          <a:xfrm>
            <a:off x="552600" y="907920"/>
            <a:ext cx="11087640" cy="34920"/>
          </a:xfrm>
          <a:prstGeom prst="rect">
            <a:avLst/>
          </a:prstGeom>
          <a:solidFill>
            <a:schemeClr val="accent2"/>
          </a:solidFill>
          <a:ln w="4445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8640" bIns="-8640" anchor="ctr">
            <a:noAutofit/>
          </a:bodyPr>
          <a:p>
            <a:pPr>
              <a:lnSpc>
                <a:spcPct val="100000"/>
              </a:lnSpc>
            </a:pPr>
            <a:endParaRPr b="0" lang="it-IT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880" cy="1468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olo e contenut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8"/>
          <p:cNvSpPr/>
          <p:nvPr/>
        </p:nvSpPr>
        <p:spPr>
          <a:xfrm>
            <a:off x="552600" y="907920"/>
            <a:ext cx="11087640" cy="34920"/>
          </a:xfrm>
          <a:prstGeom prst="rect">
            <a:avLst/>
          </a:prstGeom>
          <a:solidFill>
            <a:schemeClr val="accent2"/>
          </a:solidFill>
          <a:ln w="4445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8640" bIns="-8640" anchor="ctr">
            <a:noAutofit/>
          </a:bodyPr>
          <a:p>
            <a:pPr>
              <a:lnSpc>
                <a:spcPct val="100000"/>
              </a:lnSpc>
            </a:pPr>
            <a:endParaRPr b="0" lang="it-IT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-1764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268280"/>
            <a:ext cx="10971360" cy="1700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OpenSymbol"/>
              <a:buChar char="»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testazione sezion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8"/>
          <p:cNvSpPr/>
          <p:nvPr/>
        </p:nvSpPr>
        <p:spPr>
          <a:xfrm>
            <a:off x="552600" y="907920"/>
            <a:ext cx="11087640" cy="34920"/>
          </a:xfrm>
          <a:prstGeom prst="rect">
            <a:avLst/>
          </a:prstGeom>
          <a:solidFill>
            <a:schemeClr val="accent2"/>
          </a:solidFill>
          <a:ln w="4445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8640" bIns="-8640" anchor="ctr">
            <a:noAutofit/>
          </a:bodyPr>
          <a:p>
            <a:pPr>
              <a:lnSpc>
                <a:spcPct val="100000"/>
              </a:lnSpc>
            </a:pPr>
            <a:endParaRPr b="0" lang="it-IT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1880" cy="1360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accent2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963000" y="4006800"/>
            <a:ext cx="10361880" cy="398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e contenuti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8"/>
          <p:cNvSpPr/>
          <p:nvPr/>
        </p:nvSpPr>
        <p:spPr>
          <a:xfrm>
            <a:off x="552600" y="907920"/>
            <a:ext cx="11087640" cy="34920"/>
          </a:xfrm>
          <a:prstGeom prst="rect">
            <a:avLst/>
          </a:prstGeom>
          <a:solidFill>
            <a:schemeClr val="accent2"/>
          </a:solidFill>
          <a:ln w="4445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8640" bIns="-8640" anchor="ctr">
            <a:noAutofit/>
          </a:bodyPr>
          <a:p>
            <a:pPr>
              <a:lnSpc>
                <a:spcPct val="100000"/>
              </a:lnSpc>
            </a:pPr>
            <a:endParaRPr b="0" lang="it-IT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-1764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268280"/>
            <a:ext cx="5383440" cy="1999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197760" y="1268280"/>
            <a:ext cx="5383440" cy="1999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front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8"/>
          <p:cNvSpPr/>
          <p:nvPr/>
        </p:nvSpPr>
        <p:spPr>
          <a:xfrm>
            <a:off x="552600" y="907920"/>
            <a:ext cx="11087640" cy="34920"/>
          </a:xfrm>
          <a:prstGeom prst="rect">
            <a:avLst/>
          </a:prstGeom>
          <a:solidFill>
            <a:schemeClr val="accent2"/>
          </a:solidFill>
          <a:ln w="4445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8640" bIns="-8640" anchor="ctr">
            <a:noAutofit/>
          </a:bodyPr>
          <a:p>
            <a:pPr>
              <a:lnSpc>
                <a:spcPct val="100000"/>
              </a:lnSpc>
            </a:pPr>
            <a:endParaRPr b="0" lang="it-IT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713240"/>
            <a:ext cx="538560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5600" cy="1752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193440" y="1713240"/>
            <a:ext cx="5387760" cy="460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7760" cy="1752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titol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8"/>
          <p:cNvSpPr/>
          <p:nvPr/>
        </p:nvSpPr>
        <p:spPr>
          <a:xfrm>
            <a:off x="552600" y="907920"/>
            <a:ext cx="11087640" cy="34920"/>
          </a:xfrm>
          <a:prstGeom prst="rect">
            <a:avLst/>
          </a:prstGeom>
          <a:solidFill>
            <a:schemeClr val="accent2"/>
          </a:solidFill>
          <a:ln w="4445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8640" bIns="-8640" anchor="ctr">
            <a:noAutofit/>
          </a:bodyPr>
          <a:p>
            <a:pPr>
              <a:lnSpc>
                <a:spcPct val="100000"/>
              </a:lnSpc>
            </a:pPr>
            <a:endParaRPr b="0" lang="it-IT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-1764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8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987480" y="1550160"/>
            <a:ext cx="10208160" cy="1943280"/>
          </a:xfrm>
          <a:prstGeom prst="rect">
            <a:avLst/>
          </a:prstGeom>
          <a:noFill/>
          <a:ln w="0">
            <a:noFill/>
          </a:ln>
          <a:effectLst>
            <a:outerShdw dist="89604" dir="2700000" blurRad="63360" rotWithShape="0">
              <a:srgbClr val="000000">
                <a:alpha val="40000"/>
              </a:srgbClr>
            </a:outerShdw>
          </a:effectLst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36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Rotor Speed Estimation from Onboard Audio of Multirotor Drones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ubtitle"/>
          <p:cNvSpPr/>
          <p:nvPr/>
        </p:nvSpPr>
        <p:spPr>
          <a:xfrm>
            <a:off x="991080" y="3859920"/>
            <a:ext cx="10208160" cy="179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en-GB" sz="24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Dmitrii Mukhutdinov</a:t>
            </a:r>
            <a:r>
              <a:rPr b="1" lang="en-GB" sz="2400" strike="noStrike" u="none">
                <a:solidFill>
                  <a:srgbClr val="009999"/>
                </a:solidFill>
                <a:effectLst/>
                <a:uFillTx/>
                <a:latin typeface="Arial"/>
              </a:rPr>
              <a:t>     ·     </a:t>
            </a:r>
            <a:r>
              <a:rPr b="1" lang="en-GB" sz="24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Lin Wang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</a:pPr>
            <a:r>
              <a:rPr b="0" lang="en-GB" sz="1500" strike="noStrike" u="none">
                <a:solidFill>
                  <a:srgbClr val="595959"/>
                </a:solidFill>
                <a:effectLst/>
                <a:uFillTx/>
                <a:latin typeface="Arial"/>
              </a:rPr>
              <a:t>School of Electronic Engineering and Computer Science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GB" sz="1500" strike="noStrike" u="none">
                <a:solidFill>
                  <a:srgbClr val="595959"/>
                </a:solidFill>
                <a:effectLst/>
                <a:uFillTx/>
                <a:latin typeface="Arial"/>
              </a:rPr>
              <a:t>Queen Mary University of London, United Kingdom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500"/>
              </a:spcBef>
            </a:pPr>
            <a:r>
              <a:rPr b="1" lang="en-GB" sz="1600" strike="noStrike" u="none">
                <a:solidFill>
                  <a:srgbClr val="009999"/>
                </a:solidFill>
                <a:effectLst/>
                <a:uFillTx/>
                <a:latin typeface="Arial"/>
              </a:rPr>
              <a:t>Quiet Drones 2026  —  UAS/UAM Noise Modelling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-1764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Why listen to a drone’s rotors?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CardA"/>
          <p:cNvSpPr/>
          <p:nvPr/>
        </p:nvSpPr>
        <p:spPr>
          <a:xfrm>
            <a:off x="550080" y="1720080"/>
            <a:ext cx="3495960" cy="2548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33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rIns="180000" tIns="180000" bIns="119880" anchor="t">
            <a:noAutofit/>
          </a:bodyPr>
          <a:p>
            <a:pPr>
              <a:lnSpc>
                <a:spcPct val="100000"/>
              </a:lnSpc>
            </a:pPr>
            <a:r>
              <a:rPr b="1" lang="en-GB" sz="20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Unique signature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b="0" lang="en-GB" sz="1600" strike="noStrike" u="none">
                <a:solidFill>
                  <a:srgbClr val="262626"/>
                </a:solidFill>
                <a:effectLst/>
                <a:uFillTx/>
                <a:latin typeface="Arial"/>
              </a:rPr>
              <a:t>Rotor harmonics dominate a drone’s ego-noise.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CardB"/>
          <p:cNvSpPr/>
          <p:nvPr/>
        </p:nvSpPr>
        <p:spPr>
          <a:xfrm>
            <a:off x="4347360" y="1720080"/>
            <a:ext cx="3495960" cy="2548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rIns="180000" tIns="180000" bIns="119880" anchor="t">
            <a:noAutofit/>
          </a:bodyPr>
          <a:p>
            <a:pPr>
              <a:lnSpc>
                <a:spcPct val="100000"/>
              </a:lnSpc>
            </a:pPr>
            <a:r>
              <a:rPr b="1" lang="en-GB" sz="2000" strike="noStrike" u="none">
                <a:solidFill>
                  <a:srgbClr val="007a7a"/>
                </a:solidFill>
                <a:effectLst/>
                <a:uFillTx/>
                <a:latin typeface="Arial"/>
              </a:rPr>
              <a:t>Pitch = speed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b="0" lang="en-GB" sz="1600" strike="noStrike" u="none">
                <a:solidFill>
                  <a:srgbClr val="262626"/>
                </a:solidFill>
                <a:effectLst/>
                <a:uFillTx/>
                <a:latin typeface="Arial"/>
              </a:rPr>
              <a:t>Each rotor’s blade-passage frequency is set directly by its rotational speed.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CardC"/>
          <p:cNvSpPr/>
          <p:nvPr/>
        </p:nvSpPr>
        <p:spPr>
          <a:xfrm>
            <a:off x="8144640" y="1720080"/>
            <a:ext cx="3495960" cy="2548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33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rIns="180000" tIns="180000" bIns="119880" anchor="t">
            <a:noAutofit/>
          </a:bodyPr>
          <a:p>
            <a:pPr>
              <a:lnSpc>
                <a:spcPct val="100000"/>
              </a:lnSpc>
            </a:pPr>
            <a:r>
              <a:rPr b="1" lang="en-GB" sz="20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No telemetry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b="0" lang="en-GB" sz="1600" strike="noStrike" u="none">
                <a:solidFill>
                  <a:srgbClr val="262626"/>
                </a:solidFill>
                <a:effectLst/>
                <a:uFillTx/>
                <a:latin typeface="Arial"/>
              </a:rPr>
              <a:t>Per-rotor speed read passively from a single onboard microphone.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trip"/>
          <p:cNvSpPr/>
          <p:nvPr/>
        </p:nvSpPr>
        <p:spPr>
          <a:xfrm>
            <a:off x="550080" y="4520160"/>
            <a:ext cx="11090520" cy="1078560"/>
          </a:xfrm>
          <a:prstGeom prst="roundRect">
            <a:avLst>
              <a:gd name="adj" fmla="val 8000"/>
            </a:avLst>
          </a:prstGeom>
          <a:solidFill>
            <a:srgbClr val="333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19960" rIns="219960" tIns="119880" bIns="119880" anchor="ctr">
            <a:noAutofit/>
          </a:bodyPr>
          <a:p>
            <a:pPr algn="ctr">
              <a:lnSpc>
                <a:spcPct val="100000"/>
              </a:lnSpc>
            </a:pPr>
            <a:r>
              <a:rPr b="1" lang="en-GB" sz="17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Enables manoeuvre &amp; fault diagnostics, model-based source separation, and conditioning signals for noise suppression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-1764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The task: per-rotor speed from a mixture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askCard"/>
          <p:cNvSpPr/>
          <p:nvPr/>
        </p:nvSpPr>
        <p:spPr>
          <a:xfrm>
            <a:off x="550080" y="1640160"/>
            <a:ext cx="5394600" cy="4378680"/>
          </a:xfrm>
          <a:prstGeom prst="roundRect">
            <a:avLst>
              <a:gd name="adj" fmla="val 4000"/>
            </a:avLst>
          </a:prstGeom>
          <a:solidFill>
            <a:srgbClr val="ede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0120" rIns="240120" tIns="200160" bIns="200160" anchor="t">
            <a:noAutofit/>
          </a:bodyPr>
          <a:p>
            <a:pPr>
              <a:lnSpc>
                <a:spcPct val="100000"/>
              </a:lnSpc>
            </a:pPr>
            <a:r>
              <a:rPr b="1" lang="en-GB" sz="2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The task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100"/>
              </a:spcBef>
              <a:buClr>
                <a:srgbClr val="262626"/>
              </a:buClr>
              <a:buFont typeface="Arial"/>
              <a:buChar char="•"/>
            </a:pPr>
            <a:r>
              <a:rPr b="0" lang="en-GB" sz="1700" strike="noStrike" u="none">
                <a:solidFill>
                  <a:srgbClr val="262626"/>
                </a:solidFill>
                <a:effectLst/>
                <a:uFillTx/>
                <a:latin typeface="Arial"/>
              </a:rPr>
              <a:t>Input: one-channel mixture of speech + 4-rotor UAV noise at 16 kHz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100"/>
              </a:spcBef>
              <a:buClr>
                <a:srgbClr val="262626"/>
              </a:buClr>
              <a:buFont typeface="Arial"/>
              <a:buChar char="•"/>
            </a:pPr>
            <a:r>
              <a:rPr b="0" lang="en-GB" sz="1700" strike="noStrike" u="none">
                <a:solidFill>
                  <a:srgbClr val="262626"/>
                </a:solidFill>
                <a:effectLst/>
                <a:uFillTx/>
                <a:latin typeface="Arial"/>
              </a:rPr>
              <a:t>Output: four rotor speeds at every STFT frame (~31 fps)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100"/>
              </a:spcBef>
              <a:buClr>
                <a:srgbClr val="262626"/>
              </a:buClr>
              <a:buFont typeface="Arial"/>
              <a:buChar char="•"/>
            </a:pPr>
            <a:r>
              <a:rPr b="0" lang="en-GB" sz="1700" strike="noStrike" u="none">
                <a:solidFill>
                  <a:srgbClr val="262626"/>
                </a:solidFill>
                <a:effectLst/>
                <a:uFillTx/>
                <a:latin typeface="Arial"/>
              </a:rPr>
              <a:t>Practically relevant regime: SNR from −30 to 0 dB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HardCard"/>
          <p:cNvSpPr/>
          <p:nvPr/>
        </p:nvSpPr>
        <p:spPr>
          <a:xfrm>
            <a:off x="6246000" y="1640160"/>
            <a:ext cx="5394600" cy="4378680"/>
          </a:xfrm>
          <a:prstGeom prst="roundRect">
            <a:avLst>
              <a:gd name="adj" fmla="val 4000"/>
            </a:avLst>
          </a:prstGeom>
          <a:solidFill>
            <a:srgbClr val="e2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0120" rIns="240120" tIns="200160" bIns="200160" anchor="t">
            <a:noAutofit/>
          </a:bodyPr>
          <a:p>
            <a:pPr>
              <a:lnSpc>
                <a:spcPct val="100000"/>
              </a:lnSpc>
            </a:pPr>
            <a:r>
              <a:rPr b="1" lang="en-GB" sz="2200" strike="noStrike" u="none">
                <a:solidFill>
                  <a:srgbClr val="007a7a"/>
                </a:solidFill>
                <a:effectLst/>
                <a:uFillTx/>
                <a:latin typeface="Arial"/>
              </a:rPr>
              <a:t>Why it’s hard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100"/>
              </a:spcBef>
              <a:buClr>
                <a:srgbClr val="262626"/>
              </a:buClr>
              <a:buFont typeface="Arial"/>
              <a:buChar char="•"/>
            </a:pPr>
            <a:r>
              <a:rPr b="0" lang="en-GB" sz="1700" strike="noStrike" u="none">
                <a:solidFill>
                  <a:srgbClr val="262626"/>
                </a:solidFill>
                <a:effectLst/>
                <a:uFillTx/>
                <a:latin typeface="Arial"/>
                <a:ea typeface="Unifont"/>
              </a:rPr>
              <a:t>Four simultaneous, equally prominent, time-varying pitches — all close to each other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100"/>
              </a:spcBef>
              <a:buClr>
                <a:srgbClr val="262626"/>
              </a:buClr>
              <a:buFont typeface="Arial"/>
              <a:buChar char="•"/>
            </a:pPr>
            <a:r>
              <a:rPr b="0" lang="en-GB" sz="1700" strike="noStrike" u="none">
                <a:solidFill>
                  <a:srgbClr val="262626"/>
                </a:solidFill>
                <a:effectLst/>
                <a:uFillTx/>
                <a:latin typeface="Arial"/>
                <a:ea typeface="Unifont"/>
              </a:rPr>
              <a:t>The lowest harmonics are masked by strong broadband noise (wind noise)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100"/>
              </a:spcBef>
              <a:buClr>
                <a:srgbClr val="262626"/>
              </a:buClr>
              <a:buFont typeface="Arial"/>
              <a:buChar char="•"/>
            </a:pPr>
            <a:r>
              <a:rPr b="0" lang="en-GB" sz="1700" strike="noStrike" u="none">
                <a:solidFill>
                  <a:srgbClr val="262626"/>
                </a:solidFill>
                <a:effectLst/>
                <a:uFillTx/>
                <a:latin typeface="Arial"/>
                <a:ea typeface="Unifont"/>
              </a:rPr>
              <a:t>Single-pitch trackers (YIN, CREPE) assume one fundamental — they don’t apply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-1764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SimpleConv: a lightweight regressor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ubline"/>
          <p:cNvSpPr/>
          <p:nvPr/>
        </p:nvSpPr>
        <p:spPr>
          <a:xfrm>
            <a:off x="550080" y="1450080"/>
            <a:ext cx="11090520" cy="4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GB" sz="18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log-magnitude STFT of the mixture   →   four per-rotor speeds at every frame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Architecture" descr=""/>
          <p:cNvPicPr/>
          <p:nvPr/>
        </p:nvPicPr>
        <p:blipFill>
          <a:blip r:embed="rId1"/>
          <a:stretch/>
        </p:blipFill>
        <p:spPr>
          <a:xfrm>
            <a:off x="996120" y="2080080"/>
            <a:ext cx="10198440" cy="415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Stats"/>
          <p:cNvSpPr/>
          <p:nvPr/>
        </p:nvSpPr>
        <p:spPr>
          <a:xfrm>
            <a:off x="550080" y="6300000"/>
            <a:ext cx="11090520" cy="4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GB" sz="1700" strike="noStrike" u="none">
                <a:solidFill>
                  <a:srgbClr val="007a7a"/>
                </a:solidFill>
                <a:effectLst/>
                <a:uFillTx/>
                <a:latin typeface="Arial"/>
              </a:rPr>
              <a:t>538k parameters     ·     ~15 ms per second of audio     ·     67× real-time on CPU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-1764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Data: DREGON-LM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peech"/>
          <p:cNvSpPr/>
          <p:nvPr/>
        </p:nvSpPr>
        <p:spPr>
          <a:xfrm>
            <a:off x="550080" y="1779840"/>
            <a:ext cx="3362400" cy="2378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33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rIns="180000" tIns="169920" bIns="150120" anchor="t">
            <a:noAutofit/>
          </a:bodyPr>
          <a:p>
            <a:pPr>
              <a:lnSpc>
                <a:spcPct val="100000"/>
              </a:lnSpc>
            </a:pPr>
            <a:r>
              <a:rPr b="1" lang="en-GB" sz="19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Speech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b="0" lang="en-GB" sz="1500" strike="noStrike" u="none">
                <a:solidFill>
                  <a:srgbClr val="262626"/>
                </a:solidFill>
                <a:effectLst/>
                <a:uFillTx/>
                <a:latin typeface="Arial"/>
              </a:rPr>
              <a:t>LibriSpeech utterances (train-clean-100) – resampled to 16 kHz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usGlyph"/>
          <p:cNvSpPr/>
          <p:nvPr/>
        </p:nvSpPr>
        <p:spPr>
          <a:xfrm>
            <a:off x="3913920" y="2639880"/>
            <a:ext cx="498600" cy="69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GB" sz="3200" strike="noStrike" u="none">
                <a:solidFill>
                  <a:srgbClr val="009999"/>
                </a:solidFill>
                <a:effectLst/>
                <a:uFillTx/>
                <a:latin typeface="Arial"/>
              </a:rPr>
              <a:t>+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Noise"/>
          <p:cNvSpPr/>
          <p:nvPr/>
        </p:nvSpPr>
        <p:spPr>
          <a:xfrm>
            <a:off x="4413960" y="1779840"/>
            <a:ext cx="3362400" cy="2378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rIns="180000" tIns="169920" bIns="150120" anchor="t">
            <a:noAutofit/>
          </a:bodyPr>
          <a:p>
            <a:pPr>
              <a:lnSpc>
                <a:spcPct val="100000"/>
              </a:lnSpc>
            </a:pPr>
            <a:r>
              <a:rPr b="1" lang="en-GB" sz="1900" strike="noStrike" u="none">
                <a:solidFill>
                  <a:srgbClr val="007a7a"/>
                </a:solidFill>
                <a:effectLst/>
                <a:uFillTx/>
                <a:latin typeface="Arial"/>
              </a:rPr>
              <a:t>Rotor noise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b="0" lang="en-GB" sz="1500" strike="noStrike" u="none">
                <a:solidFill>
                  <a:srgbClr val="262626"/>
                </a:solidFill>
                <a:effectLst/>
                <a:uFillTx/>
                <a:latin typeface="Arial"/>
              </a:rPr>
              <a:t>Real in-flight DREGON quadcopter recordings, with synchronised 4-rotor tachometer telemetry – resampled to 16 kHz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ArrowGlyph"/>
          <p:cNvSpPr/>
          <p:nvPr/>
        </p:nvSpPr>
        <p:spPr>
          <a:xfrm>
            <a:off x="7778160" y="2639880"/>
            <a:ext cx="498600" cy="69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GB" sz="3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→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Mixture"/>
          <p:cNvSpPr/>
          <p:nvPr/>
        </p:nvSpPr>
        <p:spPr>
          <a:xfrm>
            <a:off x="8277840" y="1779840"/>
            <a:ext cx="3362400" cy="2378520"/>
          </a:xfrm>
          <a:prstGeom prst="roundRect">
            <a:avLst>
              <a:gd name="adj" fmla="val 5000"/>
            </a:avLst>
          </a:prstGeom>
          <a:solidFill>
            <a:srgbClr val="333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rIns="180000" tIns="169920" bIns="150120" anchor="t">
            <a:noAutofit/>
          </a:bodyPr>
          <a:p>
            <a:pPr>
              <a:lnSpc>
                <a:spcPct val="100000"/>
              </a:lnSpc>
            </a:pPr>
            <a:r>
              <a:rPr b="1" lang="en-GB" sz="19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Mixture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b="0" lang="en-GB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Mixed at a sampled SNR; targets = motor speeds interpolated to the STFT frame grid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tat1"/>
          <p:cNvSpPr/>
          <p:nvPr/>
        </p:nvSpPr>
        <p:spPr>
          <a:xfrm>
            <a:off x="550080" y="4520160"/>
            <a:ext cx="3362400" cy="1328400"/>
          </a:xfrm>
          <a:prstGeom prst="roundRect">
            <a:avLst>
              <a:gd name="adj" fmla="val 7000"/>
            </a:avLst>
          </a:prstGeom>
          <a:solidFill>
            <a:srgbClr val="ede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9880" rIns="119880" tIns="119880" bIns="119880" anchor="ctr">
            <a:noAutofit/>
          </a:bodyPr>
          <a:p>
            <a:pPr algn="ctr">
              <a:lnSpc>
                <a:spcPct val="100000"/>
              </a:lnSpc>
            </a:pPr>
            <a:r>
              <a:rPr b="1" lang="en-GB" sz="3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6000 / 600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GB" sz="1400" strike="noStrike" u="none">
                <a:solidFill>
                  <a:srgbClr val="595959"/>
                </a:solidFill>
                <a:effectLst/>
                <a:uFillTx/>
                <a:latin typeface="Arial"/>
              </a:rPr>
              <a:t>train / validation clips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tat2"/>
          <p:cNvSpPr/>
          <p:nvPr/>
        </p:nvSpPr>
        <p:spPr>
          <a:xfrm>
            <a:off x="4413960" y="4520160"/>
            <a:ext cx="3362400" cy="1328400"/>
          </a:xfrm>
          <a:prstGeom prst="roundRect">
            <a:avLst>
              <a:gd name="adj" fmla="val 7000"/>
            </a:avLst>
          </a:prstGeom>
          <a:solidFill>
            <a:srgbClr val="ede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9880" rIns="119880" tIns="119880" bIns="119880" anchor="ctr">
            <a:noAutofit/>
          </a:bodyPr>
          <a:p>
            <a:pPr algn="ctr">
              <a:lnSpc>
                <a:spcPct val="100000"/>
              </a:lnSpc>
            </a:pPr>
            <a:r>
              <a:rPr b="1" lang="en-GB" sz="3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8.2 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GB" sz="1400" strike="noStrike" u="none">
                <a:solidFill>
                  <a:srgbClr val="595959"/>
                </a:solidFill>
                <a:effectLst/>
                <a:uFillTx/>
                <a:latin typeface="Arial"/>
              </a:rPr>
              <a:t>clip length @ 16 kHz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tat3"/>
          <p:cNvSpPr/>
          <p:nvPr/>
        </p:nvSpPr>
        <p:spPr>
          <a:xfrm>
            <a:off x="8277840" y="4520160"/>
            <a:ext cx="3362400" cy="1328400"/>
          </a:xfrm>
          <a:prstGeom prst="roundRect">
            <a:avLst>
              <a:gd name="adj" fmla="val 7000"/>
            </a:avLst>
          </a:prstGeom>
          <a:solidFill>
            <a:srgbClr val="e2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9880" rIns="119880" tIns="119880" bIns="119880" anchor="ctr">
            <a:noAutofit/>
          </a:bodyPr>
          <a:p>
            <a:pPr algn="ctr">
              <a:lnSpc>
                <a:spcPct val="100000"/>
              </a:lnSpc>
            </a:pPr>
            <a:r>
              <a:rPr b="1" lang="en-GB" sz="3200" strike="noStrike" u="none">
                <a:solidFill>
                  <a:srgbClr val="007a7a"/>
                </a:solidFill>
                <a:effectLst/>
                <a:uFillTx/>
                <a:latin typeface="Arial"/>
              </a:rPr>
              <a:t>−30 to 0 dB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GB" sz="1400" strike="noStrike" u="none">
                <a:solidFill>
                  <a:srgbClr val="595959"/>
                </a:solidFill>
                <a:effectLst/>
                <a:uFillTx/>
                <a:latin typeface="Arial"/>
              </a:rPr>
              <a:t>SNR range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-1764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It tracks each rotor individually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Counter"/>
          <p:cNvSpPr/>
          <p:nvPr/>
        </p:nvSpPr>
        <p:spPr>
          <a:xfrm>
            <a:off x="9399960" y="470160"/>
            <a:ext cx="23986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1" lang="en-GB" sz="1500" strike="noStrike" u="none">
                <a:solidFill>
                  <a:srgbClr val="007a7a"/>
                </a:solidFill>
                <a:effectLst/>
                <a:uFillTx/>
                <a:latin typeface="Arial"/>
              </a:rPr>
              <a:t>Example 1 of 3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Qualitative" descr=""/>
          <p:cNvPicPr/>
          <p:nvPr/>
        </p:nvPicPr>
        <p:blipFill>
          <a:blip r:embed="rId1"/>
          <a:stretch/>
        </p:blipFill>
        <p:spPr>
          <a:xfrm>
            <a:off x="1095840" y="1299960"/>
            <a:ext cx="9998640" cy="515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Caption"/>
          <p:cNvSpPr/>
          <p:nvPr/>
        </p:nvSpPr>
        <p:spPr>
          <a:xfrm>
            <a:off x="550080" y="6480000"/>
            <a:ext cx="11090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GB" sz="1400" strike="noStrike" u="none">
                <a:solidFill>
                  <a:srgbClr val="595959"/>
                </a:solidFill>
                <a:effectLst/>
                <a:uFillTx/>
                <a:latin typeface="Arial"/>
              </a:rPr>
              <a:t>Near-hover: four rotors held at slightly different speeds — the model follows each one through the brief throttle dip.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-1764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It tracks each rotor individually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Counter"/>
          <p:cNvSpPr/>
          <p:nvPr/>
        </p:nvSpPr>
        <p:spPr>
          <a:xfrm>
            <a:off x="9399960" y="470160"/>
            <a:ext cx="23986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1" lang="en-GB" sz="1500" strike="noStrike" u="none">
                <a:solidFill>
                  <a:srgbClr val="007a7a"/>
                </a:solidFill>
                <a:effectLst/>
                <a:uFillTx/>
                <a:latin typeface="Arial"/>
              </a:rPr>
              <a:t>Example 2 of 3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Qualitative" descr=""/>
          <p:cNvPicPr/>
          <p:nvPr/>
        </p:nvPicPr>
        <p:blipFill>
          <a:blip r:embed="rId1"/>
          <a:stretch/>
        </p:blipFill>
        <p:spPr>
          <a:xfrm>
            <a:off x="1095840" y="1299960"/>
            <a:ext cx="9998640" cy="515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Caption"/>
          <p:cNvSpPr/>
          <p:nvPr/>
        </p:nvSpPr>
        <p:spPr>
          <a:xfrm>
            <a:off x="550080" y="6480000"/>
            <a:ext cx="11090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GB" sz="1400" strike="noStrike" u="none">
                <a:solidFill>
                  <a:srgbClr val="595959"/>
                </a:solidFill>
                <a:effectLst/>
                <a:uFillTx/>
                <a:latin typeface="Arial"/>
              </a:rPr>
              <a:t>A coordinated maneuver — all four speeds dip together near 5.5 s, then overshoot; the tracking stays locked on.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-1764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It tracks each rotor individually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Counter"/>
          <p:cNvSpPr/>
          <p:nvPr/>
        </p:nvSpPr>
        <p:spPr>
          <a:xfrm>
            <a:off x="9399960" y="470160"/>
            <a:ext cx="23986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1" lang="en-GB" sz="1500" strike="noStrike" u="none">
                <a:solidFill>
                  <a:srgbClr val="007a7a"/>
                </a:solidFill>
                <a:effectLst/>
                <a:uFillTx/>
                <a:latin typeface="Arial"/>
              </a:rPr>
              <a:t>Example 3 of 3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Qualitative" descr=""/>
          <p:cNvPicPr/>
          <p:nvPr/>
        </p:nvPicPr>
        <p:blipFill>
          <a:blip r:embed="rId1"/>
          <a:stretch/>
        </p:blipFill>
        <p:spPr>
          <a:xfrm>
            <a:off x="1095840" y="1299960"/>
            <a:ext cx="9998640" cy="515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Caption"/>
          <p:cNvSpPr/>
          <p:nvPr/>
        </p:nvSpPr>
        <p:spPr>
          <a:xfrm>
            <a:off x="550080" y="6480000"/>
            <a:ext cx="11090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GB" sz="1400" strike="noStrike" u="none">
                <a:solidFill>
                  <a:srgbClr val="595959"/>
                </a:solidFill>
                <a:effectLst/>
                <a:uFillTx/>
                <a:latin typeface="Arial"/>
              </a:rPr>
              <a:t>A sharp, synchronized throttle cut near 4 s — the predictor captures the dive and recovery on every rotor.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-1764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Accurate across the full SNR range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tatR2"/>
          <p:cNvSpPr/>
          <p:nvPr/>
        </p:nvSpPr>
        <p:spPr>
          <a:xfrm>
            <a:off x="550080" y="1620000"/>
            <a:ext cx="4298400" cy="1148400"/>
          </a:xfrm>
          <a:prstGeom prst="roundRect">
            <a:avLst>
              <a:gd name="adj" fmla="val 7000"/>
            </a:avLst>
          </a:prstGeom>
          <a:solidFill>
            <a:srgbClr val="333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19960" rIns="180000" tIns="100080" bIns="100080" anchor="ctr">
            <a:noAutofit/>
          </a:bodyPr>
          <a:p>
            <a:pPr>
              <a:lnSpc>
                <a:spcPct val="100000"/>
              </a:lnSpc>
            </a:pPr>
            <a:r>
              <a:rPr b="1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R² = 0.84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400" strike="noStrike" u="none">
                <a:solidFill>
                  <a:srgbClr val="c9ccec"/>
                </a:solidFill>
                <a:effectLst/>
                <a:uFillTx/>
                <a:latin typeface="Arial"/>
              </a:rPr>
              <a:t>tracks the temporal trajectory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tatMAE"/>
          <p:cNvSpPr/>
          <p:nvPr/>
        </p:nvSpPr>
        <p:spPr>
          <a:xfrm>
            <a:off x="550080" y="2919960"/>
            <a:ext cx="4298400" cy="1148400"/>
          </a:xfrm>
          <a:prstGeom prst="roundRect">
            <a:avLst>
              <a:gd name="adj" fmla="val 7000"/>
            </a:avLst>
          </a:prstGeom>
          <a:solidFill>
            <a:srgbClr val="ede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19960" rIns="180000" tIns="100080" bIns="100080" anchor="ctr">
            <a:noAutofit/>
          </a:bodyPr>
          <a:p>
            <a:pPr>
              <a:lnSpc>
                <a:spcPct val="100000"/>
              </a:lnSpc>
            </a:pPr>
            <a:r>
              <a:rPr b="1" lang="en-GB" sz="44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MAE = 0.56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400" strike="noStrike" u="none">
                <a:solidFill>
                  <a:srgbClr val="595959"/>
                </a:solidFill>
                <a:effectLst/>
                <a:uFillTx/>
                <a:latin typeface="Arial"/>
              </a:rPr>
              <a:t>rev/s — per-rotor average error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tatMSE"/>
          <p:cNvSpPr/>
          <p:nvPr/>
        </p:nvSpPr>
        <p:spPr>
          <a:xfrm>
            <a:off x="550080" y="4219920"/>
            <a:ext cx="4298400" cy="1148400"/>
          </a:xfrm>
          <a:prstGeom prst="roundRect">
            <a:avLst>
              <a:gd name="adj" fmla="val 7000"/>
            </a:avLst>
          </a:prstGeom>
          <a:solidFill>
            <a:srgbClr val="e2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19960" rIns="180000" tIns="100080" bIns="100080" anchor="ctr">
            <a:noAutofit/>
          </a:bodyPr>
          <a:p>
            <a:pPr>
              <a:lnSpc>
                <a:spcPct val="100000"/>
              </a:lnSpc>
            </a:pPr>
            <a:r>
              <a:rPr b="1" lang="en-GB" sz="4400" strike="noStrike" u="none">
                <a:solidFill>
                  <a:srgbClr val="007a7a"/>
                </a:solidFill>
                <a:effectLst/>
                <a:uFillTx/>
                <a:latin typeface="Arial"/>
              </a:rPr>
              <a:t>MSE = 5.15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400" strike="noStrike" u="none">
                <a:solidFill>
                  <a:srgbClr val="595959"/>
                </a:solidFill>
                <a:effectLst/>
                <a:uFillTx/>
                <a:latin typeface="Arial"/>
              </a:rPr>
              <a:t>(rev/s)² on held-out mixtures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Baseline"/>
          <p:cNvSpPr/>
          <p:nvPr/>
        </p:nvSpPr>
        <p:spPr>
          <a:xfrm>
            <a:off x="550080" y="5500080"/>
            <a:ext cx="4298400" cy="89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0120" rIns="60120" tIns="39960" bIns="39960" anchor="t">
            <a:noAutofit/>
          </a:bodyPr>
          <a:p>
            <a:pPr>
              <a:lnSpc>
                <a:spcPct val="100000"/>
              </a:lnSpc>
            </a:pPr>
            <a:r>
              <a:rPr b="1" lang="en-GB" sz="15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≈ 100× lower error</a:t>
            </a:r>
            <a:r>
              <a:rPr b="0" lang="en-GB" sz="1500" strike="noStrike" u="none">
                <a:solidFill>
                  <a:srgbClr val="595959"/>
                </a:solidFill>
                <a:effectLst/>
                <a:uFillTx/>
                <a:latin typeface="Arial"/>
              </a:rPr>
              <a:t> than a mean-RPS baseline (365 (rev/s)²)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PerSNR" descr=""/>
          <p:cNvPicPr/>
          <p:nvPr/>
        </p:nvPicPr>
        <p:blipFill>
          <a:blip r:embed="rId1"/>
          <a:stretch/>
        </p:blipFill>
        <p:spPr>
          <a:xfrm>
            <a:off x="5180040" y="2450160"/>
            <a:ext cx="6460560" cy="320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FigCaption"/>
          <p:cNvSpPr/>
          <p:nvPr/>
        </p:nvSpPr>
        <p:spPr>
          <a:xfrm>
            <a:off x="5180040" y="5720040"/>
            <a:ext cx="6460560" cy="59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GB" sz="1400" strike="noStrike" u="none">
                <a:solidFill>
                  <a:srgbClr val="595959"/>
                </a:solidFill>
                <a:effectLst/>
                <a:uFillTx/>
                <a:latin typeface="Arial"/>
              </a:rPr>
              <a:t>MSE (red) and R² (blue) per 5 dB SNR bin — stable from −30 to 0 dB.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9480" y="-1764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Generalizes to real free flight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FullSequence" descr=""/>
          <p:cNvPicPr/>
          <p:nvPr/>
        </p:nvPicPr>
        <p:blipFill>
          <a:blip r:embed="rId1"/>
          <a:stretch/>
        </p:blipFill>
        <p:spPr>
          <a:xfrm>
            <a:off x="550080" y="1540080"/>
            <a:ext cx="5398560" cy="462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FigCaption"/>
          <p:cNvSpPr/>
          <p:nvPr/>
        </p:nvSpPr>
        <p:spPr>
          <a:xfrm>
            <a:off x="550080" y="6199920"/>
            <a:ext cx="5398560" cy="4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GB" sz="1300" strike="noStrike" u="none">
                <a:solidFill>
                  <a:srgbClr val="595959"/>
                </a:solidFill>
                <a:effectLst/>
                <a:uFillTx/>
                <a:latin typeface="Arial"/>
              </a:rPr>
              <a:t>Spectrogram, GT (dotted) vs predicted (solid), and per-frame MSE; grey bands = takeoff / landing.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OODCard"/>
          <p:cNvSpPr/>
          <p:nvPr/>
        </p:nvSpPr>
        <p:spPr>
          <a:xfrm>
            <a:off x="6300000" y="1540080"/>
            <a:ext cx="5340600" cy="2358720"/>
          </a:xfrm>
          <a:prstGeom prst="roundRect">
            <a:avLst>
              <a:gd name="adj" fmla="val 4500"/>
            </a:avLst>
          </a:prstGeom>
          <a:solidFill>
            <a:srgbClr val="ede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0120" rIns="240120" tIns="200160" bIns="180000" anchor="t">
            <a:noAutofit/>
          </a:bodyPr>
          <a:p>
            <a:pPr>
              <a:lnSpc>
                <a:spcPct val="100000"/>
              </a:lnSpc>
            </a:pPr>
            <a:r>
              <a:rPr b="1" lang="en-GB" sz="20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Out-of-distribution test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901"/>
              </a:spcBef>
              <a:buClr>
                <a:srgbClr val="262626"/>
              </a:buClr>
              <a:buFont typeface="Arial"/>
              <a:buChar char="•"/>
            </a:pPr>
            <a:r>
              <a:rPr b="0" lang="en-GB" sz="1600" strike="noStrike" u="none">
                <a:solidFill>
                  <a:srgbClr val="262626"/>
                </a:solidFill>
                <a:effectLst/>
                <a:uFillTx/>
                <a:latin typeface="Arial"/>
              </a:rPr>
              <a:t>Real DREGON free flight, ~47 s, contains prominent speech source (SNR −3 to −8 dB);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901"/>
              </a:spcBef>
              <a:buClr>
                <a:srgbClr val="262626"/>
              </a:buClr>
              <a:buFont typeface="Arial"/>
              <a:buChar char="•"/>
            </a:pPr>
            <a:r>
              <a:rPr b="0" lang="en-GB" sz="1600" strike="noStrike" u="none">
                <a:solidFill>
                  <a:srgbClr val="262626"/>
                </a:solidFill>
                <a:effectLst/>
                <a:uFillTx/>
                <a:latin typeface="Arial"/>
              </a:rPr>
              <a:t>Steady flight: all four rotors tracked, mean MSE 19.9 (rev/s)² — within ~2× of the validation score on synthetic mixtures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FailCard"/>
          <p:cNvSpPr/>
          <p:nvPr/>
        </p:nvSpPr>
        <p:spPr>
          <a:xfrm>
            <a:off x="6300000" y="4079880"/>
            <a:ext cx="5340600" cy="2088720"/>
          </a:xfrm>
          <a:prstGeom prst="roundRect">
            <a:avLst>
              <a:gd name="adj" fmla="val 4500"/>
            </a:avLst>
          </a:prstGeom>
          <a:solidFill>
            <a:srgbClr val="e2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0120" rIns="240120" tIns="200160" bIns="180000" anchor="t">
            <a:noAutofit/>
          </a:bodyPr>
          <a:p>
            <a:pPr>
              <a:lnSpc>
                <a:spcPct val="100000"/>
              </a:lnSpc>
            </a:pPr>
            <a:r>
              <a:rPr b="1" lang="en-GB" sz="2000" strike="noStrike" u="none">
                <a:solidFill>
                  <a:srgbClr val="007a7a"/>
                </a:solidFill>
                <a:effectLst/>
                <a:uFillTx/>
                <a:latin typeface="Arial"/>
              </a:rPr>
              <a:t>Only failure: takeoff &amp; landing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901"/>
              </a:spcBef>
              <a:buClr>
                <a:srgbClr val="262626"/>
              </a:buClr>
              <a:buFont typeface="Arial"/>
              <a:buChar char="•"/>
            </a:pPr>
            <a:r>
              <a:rPr b="0" lang="en-GB" sz="1600" strike="noStrike" u="none">
                <a:solidFill>
                  <a:srgbClr val="262626"/>
                </a:solidFill>
                <a:effectLst/>
                <a:uFillTx/>
                <a:latin typeface="Arial"/>
              </a:rPr>
              <a:t>Rotors spin up / down to zero — a regime never seen in training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901"/>
              </a:spcBef>
              <a:buClr>
                <a:srgbClr val="262626"/>
              </a:buClr>
              <a:buFont typeface="Arial"/>
              <a:buChar char="•"/>
            </a:pPr>
            <a:r>
              <a:rPr b="0" lang="en-GB" sz="1600" strike="noStrike" u="none">
                <a:solidFill>
                  <a:srgbClr val="262626"/>
                </a:solidFill>
                <a:effectLst/>
                <a:uFillTx/>
                <a:latin typeface="Arial"/>
              </a:rPr>
              <a:t>Distribution shift, not a limit of audio-only estimation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-1764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32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Conclusions &amp; what’s next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akeaways"/>
          <p:cNvSpPr/>
          <p:nvPr/>
        </p:nvSpPr>
        <p:spPr>
          <a:xfrm>
            <a:off x="550080" y="1640160"/>
            <a:ext cx="5394600" cy="4378680"/>
          </a:xfrm>
          <a:prstGeom prst="roundRect">
            <a:avLst>
              <a:gd name="adj" fmla="val 4000"/>
            </a:avLst>
          </a:prstGeom>
          <a:solidFill>
            <a:srgbClr val="333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920" rIns="259920" tIns="219960" bIns="219960" anchor="t">
            <a:noAutofit/>
          </a:bodyPr>
          <a:p>
            <a:pPr>
              <a:lnSpc>
                <a:spcPct val="100000"/>
              </a:lnSpc>
            </a:pPr>
            <a:r>
              <a:rPr b="1" lang="en-GB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Takeaways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1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7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First study of audio-only multi-rotor RPS estimation in strong non-rotor noise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1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7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tiny conv net recovers per-rotor speed from −30 to 0 dB (R² = 0.84)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1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7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Passive acoustic drone-state monitoring without telemetry is feasible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Next"/>
          <p:cNvSpPr/>
          <p:nvPr/>
        </p:nvSpPr>
        <p:spPr>
          <a:xfrm>
            <a:off x="6246000" y="1640160"/>
            <a:ext cx="5394600" cy="4378680"/>
          </a:xfrm>
          <a:prstGeom prst="roundRect">
            <a:avLst>
              <a:gd name="adj" fmla="val 4000"/>
            </a:avLst>
          </a:prstGeom>
          <a:solidFill>
            <a:srgbClr val="e2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9920" rIns="259920" tIns="219960" bIns="219960" anchor="t">
            <a:noAutofit/>
          </a:bodyPr>
          <a:p>
            <a:pPr>
              <a:lnSpc>
                <a:spcPct val="100000"/>
              </a:lnSpc>
            </a:pPr>
            <a:r>
              <a:rPr b="1" lang="en-GB" sz="2200" strike="noStrike" u="none">
                <a:solidFill>
                  <a:srgbClr val="007a7a"/>
                </a:solidFill>
                <a:effectLst/>
                <a:uFillTx/>
                <a:latin typeface="Arial"/>
              </a:rPr>
              <a:t>What’s next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199"/>
              </a:spcBef>
              <a:buClr>
                <a:srgbClr val="262626"/>
              </a:buClr>
              <a:buFont typeface="Arial"/>
              <a:buChar char="•"/>
            </a:pPr>
            <a:r>
              <a:rPr b="0" lang="en-GB" sz="1700" strike="noStrike" u="none">
                <a:solidFill>
                  <a:srgbClr val="262626"/>
                </a:solidFill>
                <a:effectLst/>
                <a:uFillTx/>
                <a:latin typeface="Arial"/>
              </a:rPr>
              <a:t>Cross-airframe and real low-SNR flight recordings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199"/>
              </a:spcBef>
              <a:buClr>
                <a:srgbClr val="262626"/>
              </a:buClr>
              <a:buFont typeface="Arial"/>
              <a:buChar char="•"/>
            </a:pPr>
            <a:r>
              <a:rPr b="0" lang="en-GB" sz="1700" strike="noStrike" u="none">
                <a:solidFill>
                  <a:srgbClr val="262626"/>
                </a:solidFill>
                <a:effectLst/>
                <a:uFillTx/>
                <a:latin typeface="Arial"/>
              </a:rPr>
              <a:t>Compare against adapted classical pitch trackers and SOTA multi-pitch tracking methods for music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199"/>
              </a:spcBef>
              <a:buClr>
                <a:srgbClr val="262626"/>
              </a:buClr>
              <a:buFont typeface="Arial"/>
              <a:buChar char="•"/>
            </a:pPr>
            <a:r>
              <a:rPr b="0" lang="en-GB" sz="1700" strike="noStrike" u="none">
                <a:solidFill>
                  <a:srgbClr val="262626"/>
                </a:solidFill>
                <a:effectLst/>
                <a:uFillTx/>
                <a:latin typeface="Arial"/>
              </a:rPr>
              <a:t>Use predicted RPS to condition downstream tasks (enhancement, state classification)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335520" y="2350080"/>
            <a:ext cx="11520000" cy="1141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54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Thank you!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Contact"/>
          <p:cNvSpPr/>
          <p:nvPr/>
        </p:nvSpPr>
        <p:spPr>
          <a:xfrm>
            <a:off x="335520" y="3849840"/>
            <a:ext cx="11520000" cy="119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en-GB" sz="18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Dmitrii Mukhutdinov  ·  Lin Wang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b="0" lang="en-GB" sz="1500" strike="noStrike" u="none">
                <a:solidFill>
                  <a:srgbClr val="595959"/>
                </a:solidFill>
                <a:effectLst/>
                <a:uFillTx/>
                <a:latin typeface="Arial"/>
              </a:rPr>
              <a:t>d.mukhutdinov@qmul.ac.uk   ·   lin.wang@qmul.ac.uk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</a:pPr>
            <a:r>
              <a:rPr b="1" lang="en-GB" sz="1500" strike="noStrike" u="none">
                <a:solidFill>
                  <a:srgbClr val="009999"/>
                </a:solidFill>
                <a:effectLst/>
                <a:uFillTx/>
                <a:latin typeface="Arial"/>
              </a:rPr>
              <a:t>Queen Mary University of London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-1764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Backup slides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ubtitle"/>
          <p:cNvSpPr/>
          <p:nvPr/>
        </p:nvSpPr>
        <p:spPr>
          <a:xfrm>
            <a:off x="1095840" y="2900160"/>
            <a:ext cx="9999000" cy="149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GB" sz="2400" strike="noStrike" u="none">
                <a:solidFill>
                  <a:srgbClr val="007a7a"/>
                </a:solidFill>
                <a:effectLst/>
                <a:uFillTx/>
                <a:latin typeface="Arial"/>
              </a:rPr>
              <a:t>Recent, after-submission work — for questions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GB" sz="1700" strike="noStrike" u="none">
                <a:solidFill>
                  <a:srgbClr val="595959"/>
                </a:solidFill>
                <a:effectLst/>
                <a:uFillTx/>
                <a:latin typeface="Arial"/>
                <a:ea typeface="Unifont"/>
              </a:rPr>
              <a:t>Classical baselines  ·  architecture sweep  ·  mutli-pitch tracking baselines  </a:t>
            </a:r>
            <a:r>
              <a:rPr b="0" lang="en-GB" sz="1700" strike="noStrike" u="none">
                <a:solidFill>
                  <a:srgbClr val="595959"/>
                </a:solidFill>
                <a:effectLst/>
                <a:uFillTx/>
                <a:latin typeface="Arial"/>
              </a:rPr>
              <a:t>·  generalization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-1764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Classical methods don’t work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ag"/>
          <p:cNvSpPr/>
          <p:nvPr/>
        </p:nvSpPr>
        <p:spPr>
          <a:xfrm>
            <a:off x="8700120" y="470160"/>
            <a:ext cx="309888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1" i="1" lang="en-GB" sz="1400" strike="noStrike" u="none">
                <a:solidFill>
                  <a:srgbClr val="007a7a"/>
                </a:solidFill>
                <a:effectLst/>
                <a:uFillTx/>
                <a:latin typeface="Arial"/>
              </a:rPr>
              <a:t>After-submission work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ClassicalBar" descr=""/>
          <p:cNvPicPr/>
          <p:nvPr/>
        </p:nvPicPr>
        <p:blipFill>
          <a:blip r:embed="rId1"/>
          <a:stretch/>
        </p:blipFill>
        <p:spPr>
          <a:xfrm>
            <a:off x="500040" y="2049840"/>
            <a:ext cx="5298840" cy="322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ClassicalRPS" descr=""/>
          <p:cNvPicPr/>
          <p:nvPr/>
        </p:nvPicPr>
        <p:blipFill>
          <a:blip r:embed="rId2"/>
          <a:stretch/>
        </p:blipFill>
        <p:spPr>
          <a:xfrm>
            <a:off x="6050160" y="1950120"/>
            <a:ext cx="5748840" cy="339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Caption"/>
          <p:cNvSpPr/>
          <p:nvPr/>
        </p:nvSpPr>
        <p:spPr>
          <a:xfrm>
            <a:off x="500040" y="6019920"/>
            <a:ext cx="11190960" cy="6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GB" sz="1400" strike="noStrike" u="none">
                <a:solidFill>
                  <a:srgbClr val="595959"/>
                </a:solidFill>
                <a:effectLst/>
                <a:uFillTx/>
                <a:latin typeface="Arial"/>
              </a:rPr>
              <a:t>Five single-/multi-pitch trackers (PYIN, cepstral, HPS, matched filter, NMF), all with R² &lt; 0. Even true multi-pitch NMF is ~70× worse than the CNN; its tracks (bottom right) are essentially noise.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09480" y="-1764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 swept 10 architecture variants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ag"/>
          <p:cNvSpPr/>
          <p:nvPr/>
        </p:nvSpPr>
        <p:spPr>
          <a:xfrm>
            <a:off x="8700120" y="470160"/>
            <a:ext cx="309888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1" i="1" lang="en-GB" sz="1400" strike="noStrike" u="none">
                <a:solidFill>
                  <a:srgbClr val="007a7a"/>
                </a:solidFill>
                <a:effectLst/>
                <a:uFillTx/>
                <a:latin typeface="Arial"/>
              </a:rPr>
              <a:t>After-submission work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ArchScatter" descr=""/>
          <p:cNvPicPr/>
          <p:nvPr/>
        </p:nvPicPr>
        <p:blipFill>
          <a:blip r:embed="rId1"/>
          <a:stretch/>
        </p:blipFill>
        <p:spPr>
          <a:xfrm>
            <a:off x="1896120" y="1280160"/>
            <a:ext cx="8398800" cy="522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Caption"/>
          <p:cNvSpPr/>
          <p:nvPr/>
        </p:nvSpPr>
        <p:spPr>
          <a:xfrm>
            <a:off x="500040" y="6559920"/>
            <a:ext cx="1119096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GB" sz="1400" strike="noStrike" u="none">
                <a:solidFill>
                  <a:srgbClr val="595959"/>
                </a:solidFill>
                <a:effectLst/>
                <a:uFillTx/>
                <a:latin typeface="Arial"/>
              </a:rPr>
              <a:t>A BiGRU temporal head is the biggest single gain (R² 0.84 → 0.95). Pure width scaling and SE-without-temporal do not help.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09480" y="-1764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Best variant on a real 47s flight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ag 1"/>
          <p:cNvSpPr/>
          <p:nvPr/>
        </p:nvSpPr>
        <p:spPr>
          <a:xfrm>
            <a:off x="8700120" y="470160"/>
            <a:ext cx="309888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1" i="1" lang="en-GB" sz="1400" strike="noStrike" u="none">
                <a:solidFill>
                  <a:srgbClr val="007a7a"/>
                </a:solidFill>
                <a:effectLst/>
                <a:uFillTx/>
                <a:latin typeface="Arial"/>
              </a:rPr>
              <a:t>After-submission work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FullSeq 1" descr=""/>
          <p:cNvPicPr/>
          <p:nvPr/>
        </p:nvPicPr>
        <p:blipFill>
          <a:blip r:embed="rId1"/>
          <a:stretch/>
        </p:blipFill>
        <p:spPr>
          <a:xfrm>
            <a:off x="996120" y="1500120"/>
            <a:ext cx="10198800" cy="50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Caption 1"/>
          <p:cNvSpPr/>
          <p:nvPr/>
        </p:nvSpPr>
        <p:spPr>
          <a:xfrm>
            <a:off x="500040" y="6599880"/>
            <a:ext cx="1119096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GB" sz="1400" strike="noStrike" u="none">
                <a:solidFill>
                  <a:srgbClr val="595959"/>
                </a:solidFill>
                <a:effectLst/>
                <a:uFillTx/>
                <a:latin typeface="Arial"/>
              </a:rPr>
              <a:t>BiGRU-v2 halves the baseline’s in-flight error (MSE 9.9 vs 24.4) and tracks the take-off and landing transients more tightly.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-1764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GB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Multi-pitch salience baselines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ag"/>
          <p:cNvSpPr/>
          <p:nvPr/>
        </p:nvSpPr>
        <p:spPr>
          <a:xfrm>
            <a:off x="8700120" y="470160"/>
            <a:ext cx="309960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1" i="1" lang="en-GB" sz="1400" strike="noStrike" u="none">
                <a:solidFill>
                  <a:srgbClr val="007a7a"/>
                </a:solidFill>
                <a:effectLst/>
                <a:uFillTx/>
                <a:latin typeface="Arial"/>
              </a:rPr>
              <a:t>After-submission work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SaliencePipeline" descr=""/>
          <p:cNvPicPr/>
          <p:nvPr/>
        </p:nvPicPr>
        <p:blipFill>
          <a:blip r:embed="rId1"/>
          <a:stretch/>
        </p:blipFill>
        <p:spPr>
          <a:xfrm>
            <a:off x="600120" y="1360080"/>
            <a:ext cx="5549760" cy="443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0" name="BasicPitchArch" descr=""/>
          <p:cNvPicPr/>
          <p:nvPr/>
        </p:nvPicPr>
        <p:blipFill>
          <a:blip r:embed="rId2"/>
          <a:stretch/>
        </p:blipFill>
        <p:spPr>
          <a:xfrm>
            <a:off x="7099920" y="1360080"/>
            <a:ext cx="4060080" cy="443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LabelLeft"/>
          <p:cNvSpPr/>
          <p:nvPr/>
        </p:nvSpPr>
        <p:spPr>
          <a:xfrm>
            <a:off x="600120" y="5799960"/>
            <a:ext cx="554976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GB" sz="15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LateDeep: HCQT → CNN → salience map (~1.2M params)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LabelRight"/>
          <p:cNvSpPr/>
          <p:nvPr/>
        </p:nvSpPr>
        <p:spPr>
          <a:xfrm>
            <a:off x="7099920" y="5799960"/>
            <a:ext cx="406008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GB" sz="15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Basic Pitch (Spotify): CQT note transcriber (~16k params)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Caption"/>
          <p:cNvSpPr/>
          <p:nvPr/>
        </p:nvSpPr>
        <p:spPr>
          <a:xfrm>
            <a:off x="500040" y="6270120"/>
            <a:ext cx="11191680" cy="4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GB" sz="1400" strike="noStrike" u="none">
                <a:solidFill>
                  <a:srgbClr val="595959"/>
                </a:solidFill>
                <a:effectLst/>
                <a:uFillTx/>
                <a:latin typeface="Arial"/>
              </a:rPr>
              <a:t>Both are off-the-shelf multi-pitch models: they emit a salience map S(t, f) ∈ [0, 1], which we peak-pick and restore the four motor speed trajectories using least-cost assignment (Hungarian algorithm).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09480" y="-1764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Multi-pitch salience baselines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ag"/>
          <p:cNvSpPr/>
          <p:nvPr/>
        </p:nvSpPr>
        <p:spPr>
          <a:xfrm>
            <a:off x="8700120" y="470160"/>
            <a:ext cx="309924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1" i="1" lang="en-GB" sz="1400" strike="noStrike" u="none">
                <a:solidFill>
                  <a:srgbClr val="007a7a"/>
                </a:solidFill>
                <a:effectLst/>
                <a:uFillTx/>
                <a:latin typeface="Arial"/>
              </a:rPr>
              <a:t>After-submission work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SalienceLeaderboard" descr=""/>
          <p:cNvPicPr/>
          <p:nvPr/>
        </p:nvPicPr>
        <p:blipFill>
          <a:blip r:embed="rId1"/>
          <a:stretch/>
        </p:blipFill>
        <p:spPr>
          <a:xfrm>
            <a:off x="996120" y="1320120"/>
            <a:ext cx="10199160" cy="365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Caption"/>
          <p:cNvSpPr/>
          <p:nvPr/>
        </p:nvSpPr>
        <p:spPr>
          <a:xfrm>
            <a:off x="500040" y="5079960"/>
            <a:ext cx="11191320" cy="55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GB" sz="1400" strike="noStrike" u="none">
                <a:solidFill>
                  <a:srgbClr val="595959"/>
                </a:solidFill>
                <a:effectLst/>
                <a:uFillTx/>
                <a:latin typeface="Arial"/>
              </a:rPr>
              <a:t>Salience map → peak-pick → Hungarian tracking lags 4–14×. Rotors cluster in 69–89 Hz; in 55% of frames two are &lt;1 Hz apart — below the ~0.9 Hz grid spacing — so the difference between rotor trajectories cannot be distinguished.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CardA"/>
          <p:cNvSpPr/>
          <p:nvPr/>
        </p:nvSpPr>
        <p:spPr>
          <a:xfrm>
            <a:off x="1400040" y="5760000"/>
            <a:ext cx="4499280" cy="919440"/>
          </a:xfrm>
          <a:prstGeom prst="roundRect">
            <a:avLst>
              <a:gd name="adj" fmla="val 6000"/>
            </a:avLst>
          </a:prstGeom>
          <a:solidFill>
            <a:srgbClr val="5959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rIns="180000" tIns="90000" bIns="90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GB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Resolution floor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GB" sz="17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≥ 2.5–3 Hz (perfect map)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CardB"/>
          <p:cNvSpPr/>
          <p:nvPr/>
        </p:nvSpPr>
        <p:spPr>
          <a:xfrm>
            <a:off x="6500160" y="5760000"/>
            <a:ext cx="4499280" cy="919440"/>
          </a:xfrm>
          <a:prstGeom prst="roundRect">
            <a:avLst>
              <a:gd name="adj" fmla="val 6000"/>
            </a:avLst>
          </a:prstGeom>
          <a:solidFill>
            <a:srgbClr val="007a7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rIns="180000" tIns="90000" bIns="90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GB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SimpleConvV2 total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GB" sz="17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1.62 Hz — below the floor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09480" y="-1764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Fixing resolution isn’t enough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ag"/>
          <p:cNvSpPr/>
          <p:nvPr/>
        </p:nvSpPr>
        <p:spPr>
          <a:xfrm>
            <a:off x="8700120" y="470160"/>
            <a:ext cx="309924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1" i="1" lang="en-GB" sz="1400" strike="noStrike" u="none">
                <a:solidFill>
                  <a:srgbClr val="007a7a"/>
                </a:solidFill>
                <a:effectLst/>
                <a:uFillTx/>
                <a:latin typeface="Arial"/>
              </a:rPr>
              <a:t>After-submission work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SalienceLeaderboardNarrow" descr=""/>
          <p:cNvPicPr/>
          <p:nvPr/>
        </p:nvPicPr>
        <p:blipFill>
          <a:blip r:embed="rId1"/>
          <a:stretch/>
        </p:blipFill>
        <p:spPr>
          <a:xfrm>
            <a:off x="996120" y="1299960"/>
            <a:ext cx="10199160" cy="377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Caption"/>
          <p:cNvSpPr/>
          <p:nvPr/>
        </p:nvSpPr>
        <p:spPr>
          <a:xfrm>
            <a:off x="500040" y="5159880"/>
            <a:ext cx="11191320" cy="55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GB" sz="1400" strike="noStrike" u="none">
                <a:solidFill>
                  <a:srgbClr val="595959"/>
                </a:solidFill>
                <a:effectLst/>
                <a:uFillTx/>
                <a:latin typeface="Arial"/>
              </a:rPr>
              <a:t>A narrow-band front-end (55–110 Hz) + a learned super-resolution grid (~0.15 Hz/bin) avoids RPS tracking from collapsing into the same bins. However, Basic Pitch stays unusable (R² −3.24); multif0 is still worse than our simples convolutional regressor.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CardA"/>
          <p:cNvSpPr/>
          <p:nvPr/>
        </p:nvSpPr>
        <p:spPr>
          <a:xfrm>
            <a:off x="1199880" y="5799960"/>
            <a:ext cx="4899240" cy="899280"/>
          </a:xfrm>
          <a:prstGeom prst="roundRect">
            <a:avLst>
              <a:gd name="adj" fmla="val 6000"/>
            </a:avLst>
          </a:prstGeom>
          <a:solidFill>
            <a:srgbClr val="5959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9840" rIns="159840" tIns="90000" bIns="90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GB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Best salience (LateDeep)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GB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RMSE 6.30 → 4.03 · R² 0.19 → 0.57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CardB"/>
          <p:cNvSpPr/>
          <p:nvPr/>
        </p:nvSpPr>
        <p:spPr>
          <a:xfrm>
            <a:off x="6699960" y="5799960"/>
            <a:ext cx="4299120" cy="899280"/>
          </a:xfrm>
          <a:prstGeom prst="roundRect">
            <a:avLst>
              <a:gd name="adj" fmla="val 6000"/>
            </a:avLst>
          </a:prstGeom>
          <a:solidFill>
            <a:srgbClr val="007a7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9840" rIns="159840" tIns="90000" bIns="90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GB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SimpleConvV2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GB" sz="17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still 2.5× better (1.62 Hz)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09480" y="-1764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Generalizing across microphones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ag"/>
          <p:cNvSpPr/>
          <p:nvPr/>
        </p:nvSpPr>
        <p:spPr>
          <a:xfrm>
            <a:off x="8700120" y="470160"/>
            <a:ext cx="309888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1" i="1" lang="en-GB" sz="1400" strike="noStrike" u="none">
                <a:solidFill>
                  <a:srgbClr val="007a7a"/>
                </a:solidFill>
                <a:effectLst/>
                <a:uFillTx/>
                <a:latin typeface="Arial"/>
              </a:rPr>
              <a:t>After-submission work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CrossChannel" descr=""/>
          <p:cNvPicPr/>
          <p:nvPr/>
        </p:nvPicPr>
        <p:blipFill>
          <a:blip r:embed="rId1"/>
          <a:stretch/>
        </p:blipFill>
        <p:spPr>
          <a:xfrm>
            <a:off x="496080" y="1329840"/>
            <a:ext cx="11198880" cy="348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Caption"/>
          <p:cNvSpPr/>
          <p:nvPr/>
        </p:nvSpPr>
        <p:spPr>
          <a:xfrm>
            <a:off x="500040" y="4920120"/>
            <a:ext cx="1119096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GB" sz="1400" strike="noStrike" u="none">
                <a:solidFill>
                  <a:srgbClr val="595959"/>
                </a:solidFill>
                <a:effectLst/>
                <a:uFillTx/>
                <a:latin typeface="Arial"/>
              </a:rPr>
              <a:t>Trained on all 8 mics, evaluated per-mic with PIT (which rotor is loudest depends on mic position, so rotor identity needs PIT).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GB" sz="1400" strike="noStrike" u="none">
                <a:solidFill>
                  <a:srgbClr val="595959"/>
                </a:solidFill>
                <a:effectLst/>
                <a:uFillTx/>
                <a:latin typeface="Arial"/>
              </a:rPr>
              <a:t>Simplest convolutional regressor (SimpleConv) fails to generalize across channels; improved architecture (SimpleConvV2) generalizes well.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CardA"/>
          <p:cNvSpPr/>
          <p:nvPr/>
        </p:nvSpPr>
        <p:spPr>
          <a:xfrm>
            <a:off x="1500120" y="5579640"/>
            <a:ext cx="4298760" cy="1049040"/>
          </a:xfrm>
          <a:prstGeom prst="roundRect">
            <a:avLst>
              <a:gd name="adj" fmla="val 6000"/>
            </a:avLst>
          </a:prstGeom>
          <a:solidFill>
            <a:srgbClr val="5959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rIns="180000" tIns="100080" bIns="100080" anchor="ctr">
            <a:noAutofit/>
          </a:bodyPr>
          <a:p>
            <a:pPr algn="ctr">
              <a:lnSpc>
                <a:spcPct val="100000"/>
              </a:lnSpc>
            </a:pPr>
            <a:r>
              <a:rPr b="1" lang="en-GB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Plain SimpleConv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R² = 0.68 — lags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CardB"/>
          <p:cNvSpPr/>
          <p:nvPr/>
        </p:nvSpPr>
        <p:spPr>
          <a:xfrm>
            <a:off x="6400080" y="5579640"/>
            <a:ext cx="4298760" cy="1049040"/>
          </a:xfrm>
          <a:prstGeom prst="roundRect">
            <a:avLst>
              <a:gd name="adj" fmla="val 6000"/>
            </a:avLst>
          </a:prstGeom>
          <a:solidFill>
            <a:srgbClr val="007a7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rIns="180000" tIns="100080" bIns="100080" anchor="ctr">
            <a:noAutofit/>
          </a:bodyPr>
          <a:p>
            <a:pPr algn="ctr">
              <a:lnSpc>
                <a:spcPct val="100000"/>
              </a:lnSpc>
            </a:pPr>
            <a:r>
              <a:rPr b="1" lang="en-GB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SimpleConvV2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R² = 0.93 — uniform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609480" y="-1764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Generalizing to a new drone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ag"/>
          <p:cNvSpPr/>
          <p:nvPr/>
        </p:nvSpPr>
        <p:spPr>
          <a:xfrm>
            <a:off x="8700120" y="470160"/>
            <a:ext cx="309888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1" i="1" lang="en-GB" sz="1400" strike="noStrike" u="none">
                <a:solidFill>
                  <a:srgbClr val="007a7a"/>
                </a:solidFill>
                <a:effectLst/>
                <a:uFillTx/>
                <a:latin typeface="Arial"/>
              </a:rPr>
              <a:t>After-submission work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CrossDrone" descr=""/>
          <p:cNvPicPr/>
          <p:nvPr/>
        </p:nvPicPr>
        <p:blipFill>
          <a:blip r:embed="rId1"/>
          <a:stretch/>
        </p:blipFill>
        <p:spPr>
          <a:xfrm>
            <a:off x="496080" y="1329840"/>
            <a:ext cx="11198880" cy="348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Caption"/>
          <p:cNvSpPr/>
          <p:nvPr/>
        </p:nvSpPr>
        <p:spPr>
          <a:xfrm>
            <a:off x="500040" y="4920120"/>
            <a:ext cx="1119096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GB" sz="1400" strike="noStrike" u="none">
                <a:solidFill>
                  <a:srgbClr val="595959"/>
                </a:solidFill>
                <a:effectLst/>
                <a:uFillTx/>
                <a:latin typeface="Arial"/>
              </a:rPr>
              <a:t>SimpleConvV2 trained only on DREGON, tested on an in-house recording of a different drone (coded FLY124). Adding another in-house recording of the same drone to the training set (coded FLY125) makes it uniform (~1.1 Hz) on every mic; but performance on DREGON validation set slightly degrades.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CardA"/>
          <p:cNvSpPr/>
          <p:nvPr/>
        </p:nvSpPr>
        <p:spPr>
          <a:xfrm>
            <a:off x="1400040" y="5600520"/>
            <a:ext cx="4498920" cy="1049040"/>
          </a:xfrm>
          <a:prstGeom prst="roundRect">
            <a:avLst>
              <a:gd name="adj" fmla="val 6000"/>
            </a:avLst>
          </a:prstGeom>
          <a:solidFill>
            <a:srgbClr val="5959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rIns="180000" tIns="100080" bIns="100080" anchor="ctr">
            <a:noAutofit/>
          </a:bodyPr>
          <a:p>
            <a:pPr algn="ctr">
              <a:lnSpc>
                <a:spcPct val="100000"/>
              </a:lnSpc>
            </a:pPr>
            <a:r>
              <a:rPr b="1" lang="en-GB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DREGON-only on FLY124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GB" sz="17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RMSE 7.96 · R² 0.52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CardB"/>
          <p:cNvSpPr/>
          <p:nvPr/>
        </p:nvSpPr>
        <p:spPr>
          <a:xfrm>
            <a:off x="6500160" y="5600520"/>
            <a:ext cx="4498920" cy="1049040"/>
          </a:xfrm>
          <a:prstGeom prst="roundRect">
            <a:avLst>
              <a:gd name="adj" fmla="val 6000"/>
            </a:avLst>
          </a:prstGeom>
          <a:solidFill>
            <a:srgbClr val="007a7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rIns="180000" tIns="100080" bIns="100080" anchor="ctr">
            <a:noAutofit/>
          </a:bodyPr>
          <a:p>
            <a:pPr algn="ctr">
              <a:lnSpc>
                <a:spcPct val="100000"/>
              </a:lnSpc>
            </a:pPr>
            <a:r>
              <a:rPr b="1" lang="en-GB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+ one FLY125 recording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GB" sz="17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RMSE 1.63 · R² 0.96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plate_WP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20385</TotalTime>
  <Application>LibreOffice/25.2.3.2$Linux_X86_64 LibreOffice_project/520$Build-2</Application>
  <AppVersion>15.0000</AppVersion>
  <Words>11</Words>
  <Paragraphs>10</Paragraphs>
  <Company>Queen Mary, University of London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2012-09-24T17:56:13Z</dcterms:created>
  <dc:creator>sb303</dc:creator>
  <dc:description/>
  <dc:language>en-US</dc:language>
  <cp:lastModifiedBy/>
  <cp:lastPrinted>2025-07-04T00:11:59Z</cp:lastPrinted>
  <dcterms:modified xsi:type="dcterms:W3CDTF">2026-06-18T18:12:48Z</dcterms:modified>
  <cp:revision>2068</cp:revision>
  <dc:subject/>
  <dc:title>Title of the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Widescreen</vt:lpwstr>
  </property>
  <property fmtid="{D5CDD505-2E9C-101B-9397-08002B2CF9AE}" pid="4" name="Slides">
    <vt:i4>3</vt:i4>
  </property>
</Properties>
</file>